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断言条数</c:v>
                </c:pt>
              </c:strCache>
            </c:strRef>
          </c:tx>
          <c:spPr>
            <a:solidFill>
              <a:srgbClr val="0E8C82"/>
            </a:solidFill>
          </c:spPr>
          <c:cat>
            <c:strRef>
              <c:f>Sheet1!$A$2:$A$6</c:f>
              <c:strCache>
                <c:ptCount val="5"/>
                <c:pt idx="0">
                  <c:v>accept</c:v>
                </c:pt>
                <c:pt idx="1">
                  <c:v>triagetest</c:v>
                </c:pt>
                <c:pt idx="2">
                  <c:v>selftest</c:v>
                </c:pt>
                <c:pt idx="3">
                  <c:v>authtest</c:v>
                </c:pt>
                <c:pt idx="4">
                  <c:v>ai-model-check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821</c:v>
                </c:pt>
                <c:pt idx="1">
                  <c:v>150</c:v>
                </c:pt>
                <c:pt idx="2">
                  <c:v>51</c:v>
                </c:pt>
                <c:pt idx="3">
                  <c:v>17</c:v>
                </c:pt>
                <c:pt idx="4">
                  <c:v>46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 封面｜0:00–0:30】</a:t>
            </a:r>
          </a:p>
          <a:p>
            <a:r>
              <a:t>这是「智慧医院智能导诊就诊系统」：一个**仓颉**服务端、一套契约、三个客户端 —— 鸿蒙患者/医生/管理端、安卓对照端、零依赖管理台。五分钟我只讲五件事：**形态、架构取舍、AI 的真本事与真边界、工程证据、没做到的部分**。</a:t>
            </a:r>
          </a:p>
          <a:p/>
          <a:p>
            <a:r>
              <a:t>（本备注与 docs/答辩材料-2026-10-17.md §一 同源；改一处要同步另一处）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 交付了什么｜0:30–1:00】</a:t>
            </a:r>
          </a:p>
          <a:p>
            <a:r>
              <a:t>四端都能构建能跑：**81** 个 REST 端点、**24** 份 schema + **67** 个示例、**38** 个业务 `.cj`、**59** 个 `.ets`、**13** 个 `.kt`；外加 **25 文件**安装包与 **821 条**验收断言。</a:t>
            </a:r>
          </a:p>
          <a:p/>
          <a:p>
            <a:r>
              <a:t>（本备注与 docs/答辩材料-2026-10-17.md §一 同源；改一处要同步另一处）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 架构｜1:00–1:30】</a:t>
            </a:r>
          </a:p>
          <a:p>
            <a:r>
              <a:t>三个客户端 → **一个 exe** → MariaDB **17 张表**。没有 ORM，SQL 集中、可审计；号源与挂号走独立路径，**扣号是一条带谓词的 UPDATE**，并发安全靠数据库而不是应用锁。</a:t>
            </a:r>
          </a:p>
          <a:p/>
          <a:p>
            <a:r>
              <a:t>（本备注与 docs/答辩材料-2026-10-17.md §一 同源；改一处要同步另一处）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 患者闭环｜1:30–2:00】</a:t>
            </a:r>
          </a:p>
          <a:p>
            <a:r>
              <a:t>主诉 → 分诊 → 推荐号源 → 挂号 → 候诊 → 病历，六步全在一个闭环里。**每一步都由服务端裁决**，客户端只负责呈现 —— 这样规则改了不用发版。</a:t>
            </a:r>
          </a:p>
          <a:p/>
          <a:p>
            <a:r>
              <a:t>（本备注与 docs/答辩材料-2026-10-17.md §一 同源；改一处要同步另一处）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 AI｜2:00–2:30】</a:t>
            </a:r>
          </a:p>
          <a:p>
            <a:r>
              <a:t>模型**只提议、不决定**：它给出科室名，服务端必须拿真实号源库存校验，不通过就降级成「备选号源」。三条可现场复现的证据：`source=model`、`used_kb=true`、改 Prompt **零重启**生效。</a:t>
            </a:r>
          </a:p>
          <a:p/>
          <a:p>
            <a:r>
              <a:t>（本备注与 docs/答辩材料-2026-10-17.md §一 同源；改一处要同步另一处）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【6 医生端｜2:30–3:00】</a:t>
            </a:r>
          </a:p>
          <a:p>
            <a:r>
              <a:t>到院 → 候诊 → 接诊 → 七段病历 → 提交锁定 → 版本历史。病历**提交后不可改**，解锁是管理员动作且必须填理由；「一键预填」**只补空段**，绝不覆盖医生已经写下的内容。</a:t>
            </a:r>
          </a:p>
          <a:p/>
          <a:p>
            <a:r>
              <a:t>（本备注与 docs/答辩材料-2026-10-17.md §一 同源；改一处要同步另一处）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【7 管理端｜3:00–3:30】</a:t>
            </a:r>
          </a:p>
          <a:p>
            <a:r>
              <a:t>四块：运营看板（数字来自真实聚合，不是写死）、基础数据 CRUD（科室/医生/账号/排班）、AI 能力中心（模型·Prompt·工具闸门）、知识库（文档→切块→关键词检索）。</a:t>
            </a:r>
          </a:p>
          <a:p/>
          <a:p>
            <a:r>
              <a:t>（本备注与 docs/答辩材料-2026-10-17.md §一 同源；改一处要同步另一处）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【8 工程与质量｜3:30–4:00】</a:t>
            </a:r>
          </a:p>
          <a:p>
            <a:r>
              <a:t>数字都是跑出来的：`accept` 821、`triagetest` 150、`selftest` 51、`authtest` 17、`ai-model-check` 46；`final-verify` 一条命令 18 项；CI 三层：文本卫生、源码↔分发包逐字节、真编译三件套。</a:t>
            </a:r>
          </a:p>
          <a:p/>
          <a:p>
            <a:r>
              <a:t>（本备注与 docs/答辩材料-2026-10-17.md §一 同源；改一处要同步另一处）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【9 真实性与合规｜4:00–4:30】</a:t>
            </a:r>
          </a:p>
          <a:p>
            <a:r>
              <a:t>密钥**只存引用**（`env:`/`file:`/`builtin:demo`），演示密钥带**有效期**；许可证与 NOTICE 随包；轻舟框架是**我们参与开发**的，四组补丁已并入上游 —— 作品是「框架设计 + 应用场景」两层产出。</a:t>
            </a:r>
          </a:p>
          <a:p/>
          <a:p>
            <a:r>
              <a:t>（本备注与 docs/答辩材料-2026-10-17.md §一 同源；改一处要同步另一处）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【10 能做与不能做｜4:30–5:00】</a:t>
            </a:r>
          </a:p>
          <a:p>
            <a:r>
              <a:t>没做到的三件我直接说：客户端自动化测试 **0**、向量检索**没接线**（当前是关键词）、工具开关只到**闸门**。下一步：纯函数单测 → 真 embedding → Prompt 版本进调用日志。</a:t>
            </a:r>
          </a:p>
          <a:p/>
          <a:p>
            <a:r>
              <a:t>（本备注与 docs/答辩材料-2026-10-17.md §一 同源；改一处要同步另一处）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74519"/>
            <a:ext cx="10149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智慧医院智能导诊就诊系统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76148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D8D0"/>
                </a:solidFill>
                <a:latin typeface="Microsoft YaHei"/>
              </a:rPr>
              <a:t>仓颉服务端 · 鸿蒙/安卓双端 · 契约驱动 · AI 能力中心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3401568"/>
            <a:ext cx="2011680" cy="45720"/>
          </a:xfrm>
          <a:prstGeom prst="rect">
            <a:avLst/>
          </a:prstGeom>
          <a:solidFill>
            <a:srgbClr val="0E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0"/>
            <a:ext cx="5669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D8E8E5"/>
                </a:solidFill>
                <a:latin typeface="Microsoft YaHei"/>
              </a:rPr>
              <a:t>综合系统赛道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D8E8E5"/>
                </a:solidFill>
                <a:latin typeface="Microsoft YaHei"/>
              </a:rPr>
              <a:t>提交人：申宇乐　｜　2026-10-21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D8E8E5"/>
                </a:solidFill>
                <a:latin typeface="Microsoft YaHei"/>
              </a:rPr>
              <a:t>仓库：github.com/XueDric/smart_hospital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580644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FD8D0"/>
                </a:solidFill>
                <a:latin typeface="Microsoft YaHei"/>
              </a:rPr>
              <a:t>演示视频 5:23（在线服务实录）｜821 条验收断言全绿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交付了什么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FD8D0"/>
                </a:solidFill>
                <a:latin typeface="Microsoft YaHei"/>
              </a:rPr>
              <a:t>一个可跑的三端系统 + 一套能自证的材料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920240" cy="566928"/>
          </a:xfrm>
          <a:prstGeom prst="roundRect">
            <a:avLst/>
          </a:prstGeom>
          <a:solidFill>
            <a:srgbClr val="EAF4F2"/>
          </a:solidFill>
          <a:ln w="12700">
            <a:solidFill>
              <a:srgbClr val="0E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8C82"/>
                </a:solidFill>
                <a:latin typeface="Microsoft YaHei"/>
              </a:rPr>
              <a:t>仓颉服务端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53895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13B3A"/>
                </a:solidFill>
                <a:latin typeface="Microsoft YaHei"/>
              </a:rPr>
              <a:t>38 个 .cj / 81 条 /api/v1 路由 / 轻舟框架（本团队参与开发）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920240" cy="566928"/>
          </a:xfrm>
          <a:prstGeom prst="roundRect">
            <a:avLst/>
          </a:prstGeom>
          <a:solidFill>
            <a:srgbClr val="EAF4F2"/>
          </a:solidFill>
          <a:ln w="12700">
            <a:solidFill>
              <a:srgbClr val="0E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8C82"/>
                </a:solidFill>
                <a:latin typeface="Microsoft YaHei"/>
              </a:rPr>
              <a:t>鸿蒙端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22576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13B3A"/>
                </a:solidFill>
                <a:latin typeface="Microsoft YaHei"/>
              </a:rPr>
              <a:t>患者 / 医生 / 管理三端，59 个 .ets；HAP 1,758,110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39"/>
            <a:ext cx="1920240" cy="566928"/>
          </a:xfrm>
          <a:prstGeom prst="roundRect">
            <a:avLst/>
          </a:prstGeom>
          <a:solidFill>
            <a:srgbClr val="EAF4F2"/>
          </a:solidFill>
          <a:ln w="12700">
            <a:solidFill>
              <a:srgbClr val="0E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82111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8C82"/>
                </a:solidFill>
                <a:latin typeface="Microsoft YaHei"/>
              </a:rPr>
              <a:t>安卓端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91256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13B3A"/>
                </a:solidFill>
                <a:latin typeface="Microsoft YaHei"/>
              </a:rPr>
              <a:t>患者端 13 个 .kt；APK 1,186,278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1920240" cy="566928"/>
          </a:xfrm>
          <a:prstGeom prst="roundRect">
            <a:avLst/>
          </a:prstGeom>
          <a:solidFill>
            <a:srgbClr val="EAF4F2"/>
          </a:solidFill>
          <a:ln w="12700">
            <a:solidFill>
              <a:srgbClr val="0E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8C82"/>
                </a:solidFill>
                <a:latin typeface="Microsoft YaHei"/>
              </a:rPr>
              <a:t>契约层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059935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13B3A"/>
                </a:solidFill>
                <a:latin typeface="Microsoft YaHei"/>
              </a:rPr>
              <a:t>24 个 JSON Schema + 67 份样例，三端共用一套接口约定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00600"/>
            <a:ext cx="1920240" cy="566928"/>
          </a:xfrm>
          <a:prstGeom prst="roundRect">
            <a:avLst/>
          </a:prstGeom>
          <a:solidFill>
            <a:srgbClr val="EAF4F2"/>
          </a:solidFill>
          <a:ln w="12700">
            <a:solidFill>
              <a:srgbClr val="0E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1947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8C82"/>
                </a:solidFill>
                <a:latin typeface="Microsoft YaHei"/>
              </a:rPr>
              <a:t>验收与证据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928616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13B3A"/>
                </a:solidFill>
                <a:latin typeface="Microsoft YaHei"/>
              </a:rPr>
              <a:t>821 条断言、26 个测试脚本、16 张鸿蒙截图、5:23 实录视频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架构：一个可执行文件 + 一套契约 + 三个客户端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FD8D0"/>
                </a:solidFill>
                <a:latin typeface="Microsoft YaHei"/>
              </a:rPr>
              <a:t>服务端不依赖任何应用框架的魔法，路由表能一眼数清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417320"/>
            <a:ext cx="2743200" cy="603504"/>
          </a:xfrm>
          <a:prstGeom prst="roundRect">
            <a:avLst/>
          </a:prstGeom>
          <a:solidFill>
            <a:srgbClr val="EAF4F2"/>
          </a:solidFill>
          <a:ln>
            <a:solidFill>
              <a:srgbClr val="0E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E8C82"/>
                </a:solidFill>
                <a:latin typeface="Microsoft YaHei"/>
              </a:rPr>
              <a:t>鸿蒙端 3 个 HAP 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240280"/>
            <a:ext cx="2743200" cy="603504"/>
          </a:xfrm>
          <a:prstGeom prst="roundRect">
            <a:avLst/>
          </a:prstGeom>
          <a:solidFill>
            <a:srgbClr val="EAF4F2"/>
          </a:solidFill>
          <a:ln>
            <a:solidFill>
              <a:srgbClr val="0E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E8C82"/>
                </a:solidFill>
                <a:latin typeface="Microsoft YaHei"/>
              </a:rPr>
              <a:t>安卓端 1 个 APK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63240"/>
            <a:ext cx="2743200" cy="603504"/>
          </a:xfrm>
          <a:prstGeom prst="roundRect">
            <a:avLst/>
          </a:prstGeom>
          <a:solidFill>
            <a:srgbClr val="EAF4F2"/>
          </a:solidFill>
          <a:ln>
            <a:solidFill>
              <a:srgbClr val="0E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E8C82"/>
                </a:solidFill>
                <a:latin typeface="Microsoft YaHei"/>
              </a:rPr>
              <a:t>管理台网页 7 个文件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108960" cy="1417320"/>
          </a:xfrm>
          <a:prstGeom prst="round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084831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hospital-server.exe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仓颉 + 轻舟（参与开发）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81 条路由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74519"/>
            <a:ext cx="3017520" cy="1417320"/>
          </a:xfrm>
          <a:prstGeom prst="roundRect">
            <a:avLst/>
          </a:prstGeom>
          <a:solidFill>
            <a:srgbClr val="EAF4F2"/>
          </a:solidFill>
          <a:ln>
            <a:solidFill>
              <a:srgbClr val="B46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084831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B46A0B"/>
                </a:solidFill>
                <a:latin typeface="Microsoft YaHei"/>
              </a:rPr>
              <a:t>MariaDB 11.4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B46A0B"/>
                </a:solidFill>
                <a:latin typeface="Microsoft YaHei"/>
              </a:rPr>
              <a:t>17 张表 / 直接 SQL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B46A0B"/>
                </a:solidFill>
                <a:latin typeface="Microsoft YaHei"/>
              </a:rPr>
              <a:t>号源与挂号域独占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21608" y="1719072"/>
            <a:ext cx="594360" cy="859536"/>
          </a:xfrm>
          <a:prstGeom prst="line">
            <a:avLst/>
          </a:prstGeom>
          <a:ln>
            <a:solidFill>
              <a:srgbClr val="5B6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21608" y="2542032"/>
            <a:ext cx="594360" cy="36576"/>
          </a:xfrm>
          <a:prstGeom prst="line">
            <a:avLst/>
          </a:prstGeom>
          <a:ln>
            <a:solidFill>
              <a:srgbClr val="5B6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721608" y="2578608"/>
            <a:ext cx="594360" cy="786384"/>
          </a:xfrm>
          <a:prstGeom prst="line">
            <a:avLst/>
          </a:prstGeom>
          <a:ln>
            <a:solidFill>
              <a:srgbClr val="5B6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70648" y="2578608"/>
            <a:ext cx="685800" cy="0"/>
          </a:xfrm>
          <a:prstGeom prst="line">
            <a:avLst/>
          </a:prstGeom>
          <a:ln>
            <a:solidFill>
              <a:srgbClr val="5B6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406908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契约先行：contract/ 下 24 个 Schema 是三方唯一真源，字段类型错误在编译期就被三端拦下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44568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单进程 + 单连接：事务与请求同一条链，读一致性靠事务隔离，不靠缓存对齐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2005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零外部服务依赖：TLS 走 OpenSSL 3 运行时，AI 出站只需一次 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患者端：一次就诊的完整闭环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FD8D0"/>
                </a:solidFill>
                <a:latin typeface="Microsoft YaHei"/>
              </a:rPr>
              <a:t>从「我不舒服」到「拿到病历」，中间没有断点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572768" cy="713232"/>
          </a:xfrm>
          <a:prstGeom prst="roundRect">
            <a:avLst/>
          </a:prstGeom>
          <a:solidFill>
            <a:srgbClr val="0E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1572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智能分诊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59152" y="1371600"/>
            <a:ext cx="1572768" cy="713232"/>
          </a:xfrm>
          <a:prstGeom prst="roundRect">
            <a:avLst/>
          </a:prstGeom>
          <a:solidFill>
            <a:srgbClr val="0E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59152" y="1536192"/>
            <a:ext cx="1572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预问诊 6 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51376" y="1371600"/>
            <a:ext cx="1572768" cy="713232"/>
          </a:xfrm>
          <a:prstGeom prst="roundRect">
            <a:avLst/>
          </a:prstGeom>
          <a:solidFill>
            <a:srgbClr val="0E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51376" y="1536192"/>
            <a:ext cx="1572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预约挂号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371600"/>
            <a:ext cx="1572768" cy="713232"/>
          </a:xfrm>
          <a:prstGeom prst="round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536192"/>
            <a:ext cx="1572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到院候诊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3" y="1371600"/>
            <a:ext cx="1572768" cy="713232"/>
          </a:xfrm>
          <a:prstGeom prst="round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35823" y="1536192"/>
            <a:ext cx="1572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医生接诊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1371600"/>
            <a:ext cx="1572768" cy="713232"/>
          </a:xfrm>
          <a:prstGeom prst="round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8048" y="1536192"/>
            <a:ext cx="15727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七段病历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分诊由服务端规则引擎判定科室，模型只负责把结论转写成患者能读的一两句；可用号源由服务端实时校验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632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预问诊把主诉、病程、程度、伴随症状、既往史、过敏史结构化，直接喂给医生端病历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118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挂号走真实扣号（UPDATE … WHERE remain_num &gt; 0），列表自带科室与医生名，不用客户端拼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病历锁定后患者可读、不可改；医生改病历留修订历史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406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8C82"/>
                </a:solidFill>
                <a:latin typeface="Microsoft YaHei"/>
              </a:rPr>
              <a:t>实测：患者 demo_patient 挂号 → 医生接诊 → 提交锁定 → 患者端「医疗档案」看到 7/7 段完整病历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AI：真接线，不是 PPT 里的框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FD8D0"/>
                </a:solidFill>
                <a:latin typeface="Microsoft YaHei"/>
              </a:rPr>
              <a:t>四层证据都能现场复现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25880"/>
            <a:ext cx="2606040" cy="2148840"/>
          </a:xfrm>
          <a:prstGeom prst="roundRect">
            <a:avLst/>
          </a:prstGeom>
          <a:solidFill>
            <a:srgbClr val="EAF4F2"/>
          </a:solidFill>
          <a:ln>
            <a:solidFill>
              <a:srgbClr val="0E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E8C82"/>
                </a:solidFill>
                <a:latin typeface="Microsoft YaHei"/>
              </a:rPr>
              <a:t>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2331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deepseek-chat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真实 HTTPS 出站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TLS 走本地 CA bundle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606040" cy="2148840"/>
          </a:xfrm>
          <a:prstGeom prst="roundRect">
            <a:avLst/>
          </a:prstGeom>
          <a:solidFill>
            <a:srgbClr val="EAF4F2"/>
          </a:solidFill>
          <a:ln>
            <a:solidFill>
              <a:srgbClr val="0E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48132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E8C82"/>
                </a:solidFill>
                <a:latin typeface="Microsoft YaHei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938528"/>
            <a:ext cx="2331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4 个槽位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管理者改模板零重启生效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triage 已真接线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325880"/>
            <a:ext cx="2606040" cy="2148840"/>
          </a:xfrm>
          <a:prstGeom prst="roundRect">
            <a:avLst/>
          </a:prstGeom>
          <a:solidFill>
            <a:srgbClr val="EAF4F2"/>
          </a:solidFill>
          <a:ln>
            <a:solidFill>
              <a:srgbClr val="0E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48132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E8C82"/>
                </a:solidFill>
                <a:latin typeface="Microsoft YaHei"/>
              </a:rPr>
              <a:t>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938528"/>
            <a:ext cx="2331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关键词检索端到端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used_kb=true 实测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kb_doc_ids=1734,1738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3144" y="1325880"/>
            <a:ext cx="2606040" cy="2148840"/>
          </a:xfrm>
          <a:prstGeom prst="roundRect">
            <a:avLst/>
          </a:prstGeom>
          <a:solidFill>
            <a:srgbClr val="EAF4F2"/>
          </a:solidFill>
          <a:ln>
            <a:solidFill>
              <a:srgbClr val="0E8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7736" y="148132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E8C82"/>
                </a:solidFill>
                <a:latin typeface="Microsoft YaHei"/>
              </a:rPr>
              <a:t>降级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1938528"/>
            <a:ext cx="2331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失败可解释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reason=CALL_FAILED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超时与重试有上限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规则兜底不空转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0332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3B3A"/>
                </a:solidFill>
                <a:latin typeface="Microsoft YaHei"/>
              </a:rPr>
              <a:t>现场可复现的三条命令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3B3A"/>
                </a:solidFill>
                <a:latin typeface="Microsoft YaHei"/>
              </a:rPr>
              <a:t>· POST /api/v1/triage  →  响应 source=model，ai_note 是真模型文本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36008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3B3A"/>
                </a:solidFill>
                <a:latin typeface="Microsoft YaHei"/>
              </a:rPr>
              <a:t>· GET  /api/v1/admin/ai/triage-calls/&lt;request_id&gt;  →  used_kb=true，命中知识库 2 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114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3B3A"/>
                </a:solidFill>
                <a:latin typeface="Microsoft YaHei"/>
              </a:rPr>
              <a:t>· PUT  /api/v1/admin/ai/prompts/triage  →  customized=true，下一次分诊即用新模板（零重启）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医生端：按真实接诊顺序设计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FD8D0"/>
                </a:solidFill>
                <a:latin typeface="Microsoft YaHei"/>
              </a:rPr>
              <a:t>队列只看该看的，病历只改该改的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接诊队列：按状态分段（待到院/候诊/接诊中/已完成），含历史与未来日期，未来日期不能到院登记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病历七段：主诉 / 现病史 / 既往史 / 过敏史 / 体格检查 / 诊断 / 处理意见，诊断与处理意见为锁定必填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05456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一键预填：用预问诊单**补齐空段**，医生已写的内容不覆盖（2026-10-21 从「假复制」改成真补齐）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72384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提交锁定：锁定后不可改；重新打开要写理由，并留修订历史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3931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隐私边界：既往病历只给本人接诊过的最近 5 份，别人的一律不返回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8C82"/>
                </a:solidFill>
                <a:latin typeface="Microsoft YaHei"/>
              </a:rPr>
              <a:t>实测：doc2e2e 接诊 → 写现病史 → 一键预填 → 现病史/既往史/过敏史当场被补齐，体检与诊断保持为空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管理端：运营看板 + 基础数据 + AI 能力中心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FD8D0"/>
                </a:solidFill>
                <a:latin typeface="Microsoft YaHei"/>
              </a:rPr>
              <a:t>每一块都能写、能改、能查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82296" cy="914400"/>
          </a:xfrm>
          <a:prstGeom prst="rect">
            <a:avLst/>
          </a:prstGeom>
          <a:solidFill>
            <a:srgbClr val="0E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5331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13B3A"/>
                </a:solidFill>
                <a:latin typeface="Microsoft YaHei"/>
              </a:rPr>
              <a:t>运营看板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353312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6A"/>
                </a:solidFill>
                <a:latin typeface="Microsoft YaHei"/>
              </a:rPr>
              <a:t>累计挂号 / 号源使用率 / 分诊调用 / 预问诊完成率 / 近 14 日趋势，全部来自真实表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42032"/>
            <a:ext cx="82296" cy="914400"/>
          </a:xfrm>
          <a:prstGeom prst="rect">
            <a:avLst/>
          </a:prstGeom>
          <a:solidFill>
            <a:srgbClr val="0E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23744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13B3A"/>
                </a:solidFill>
                <a:latin typeface="Microsoft YaHei"/>
              </a:rPr>
              <a:t>基础数据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523744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6A"/>
                </a:solidFill>
                <a:latin typeface="Microsoft YaHei"/>
              </a:rPr>
              <a:t>科室、医生有管理端 CRUD；排班与号源可增改；患者档案仍靠 SQL 维护（如实标注）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12464"/>
            <a:ext cx="82296" cy="914400"/>
          </a:xfrm>
          <a:prstGeom prst="rect">
            <a:avLst/>
          </a:prstGeom>
          <a:solidFill>
            <a:srgbClr val="0E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94176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13B3A"/>
                </a:solidFill>
                <a:latin typeface="Microsoft YaHei"/>
              </a:rPr>
              <a:t>账号与权限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694176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6A"/>
                </a:solidFill>
                <a:latin typeface="Microsoft YaHei"/>
              </a:rPr>
              <a:t>患者/医生/管理员三类账号，改密、停用、ref_id 绑定档案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882896"/>
            <a:ext cx="82296" cy="914400"/>
          </a:xfrm>
          <a:prstGeom prst="rect">
            <a:avLst/>
          </a:prstGeom>
          <a:solidFill>
            <a:srgbClr val="0E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8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13B3A"/>
                </a:solidFill>
                <a:latin typeface="Microsoft YaHei"/>
              </a:rPr>
              <a:t>AI 能力中心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864608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6A"/>
                </a:solidFill>
                <a:latin typeface="Microsoft YaHei"/>
              </a:rPr>
              <a:t>模型配置 / Prompt 四槽位 / 工具开关 / 知识库文档，改动即时生效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工程与质量：数字都是跑出来的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FD8D0"/>
                </a:solidFill>
                <a:latin typeface="Microsoft YaHei"/>
              </a:rPr>
              <a:t>同一份源码，同一套断言，谁都能复跑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28016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1417320"/>
            <a:ext cx="4297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▪ accept：821 条（需 MariaDB，跑在独立测试库）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2286000"/>
            <a:ext cx="4297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▪ 纯逻辑：selftest / authtest / triagetest 不需要数据库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154680"/>
            <a:ext cx="4297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▪ CI：仓库卫生 + 纯逻辑两 job；缺工具链时 SKIP 而不是假绿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4023359"/>
            <a:ext cx="4297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3B3A"/>
                </a:solidFill>
                <a:latin typeface="Microsoft YaHei"/>
              </a:rPr>
              <a:t>▪ 门禁：文档链接、数字对账、交付快照三道脚本化校验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B6B6A"/>
                </a:solidFill>
                <a:latin typeface="Microsoft YaHei"/>
              </a:rPr>
              <a:t>76 个参与编译的源文件 = 38 业务 .cj + 38 框架 .cj（框架快照共 46 个，8 个不进编译）；增量构建 2 s 381 ms（65 tasks / 38 up-to-date，非 clean 构建）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真实性与合规：把边界写在明面上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FD8D0"/>
                </a:solidFill>
                <a:latin typeface="Microsoft YaHei"/>
              </a:rPr>
              <a:t>比「看起来很强」更重要的是「经得起问」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E8C82"/>
                </a:solidFill>
                <a:latin typeface="Microsoft YaHei"/>
              </a:rPr>
              <a:t>AI 工具使用声明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371600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13B3A"/>
                </a:solidFill>
                <a:latin typeface="Microsoft YaHei"/>
              </a:rPr>
              <a:t>产品内 AI 与开发期 AI 分开写；模型、范围、核心代码归属都有出处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E8C82"/>
                </a:solidFill>
                <a:latin typeface="Microsoft YaHei"/>
              </a:rPr>
              <a:t>内置演示密钥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304288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13B3A"/>
                </a:solidFill>
                <a:latin typeface="Microsoft YaHei"/>
              </a:rPr>
              <a:t>开箱即用但**限时**（2026-12-31 到期自动拒绝），换法一条命令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36976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E8C82"/>
                </a:solidFill>
                <a:latin typeface="Microsoft YaHei"/>
              </a:rPr>
              <a:t>许可证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236976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13B3A"/>
                </a:solidFill>
                <a:latin typeface="Microsoft YaHei"/>
              </a:rPr>
              <a:t>本项目 MIT；框架 MIT、驱动 Apache-2.0；仓颉运行时 Apache-2.0 含 Runtime Library Exception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E8C82"/>
                </a:solidFill>
                <a:latin typeface="Microsoft YaHei"/>
              </a:rPr>
              <a:t>分发包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169664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13B3A"/>
                </a:solidFill>
                <a:latin typeface="Microsoft YaHei"/>
              </a:rPr>
              <a:t>25 个文件，含 LICENSE / NOTICE / THIRD-PARTY.md 与 licenses/ 下 6 份全文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02352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E8C82"/>
                </a:solidFill>
                <a:latin typeface="Microsoft YaHei"/>
              </a:rPr>
              <a:t>如实标注的缺口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5102352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13B3A"/>
                </a:solidFill>
                <a:latin typeface="Microsoft YaHei"/>
              </a:rPr>
              <a:t>向量检索未接（关键词为默认）；工具开关是预留闸门，生产路径无派发器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这套东西现在能做什么，还不能做什么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881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能：三端跑通一次真实就诊（分诊→预问诊→挂号→接诊→病历→患者可读），数据落库可查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9384"/>
            <a:ext cx="10881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能：AI 真调用（模型 + 关键词知识库），失败可解释、可降级、可现场复现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10881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能：谁都能复跑 821 条断言；文档、数字、快照三道门禁保证「说的就是代码里的」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36391"/>
            <a:ext cx="10881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不能：向量检索没接（Embeddings 服务未接入，关键词是当前默认能力）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39896"/>
            <a:ext cx="10881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不能：工具开关没有派发器，模型是单轮 chat completion；多轮 tool-calling 属后续工作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43400"/>
            <a:ext cx="10881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13B3A"/>
                </a:solidFill>
                <a:latin typeface="Microsoft YaHei"/>
              </a:rPr>
              <a:t>· 不能：单连接 + 单事务模型适合这个规模，真上量要换连接池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235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E8C82"/>
                </a:solidFill>
                <a:latin typeface="Microsoft YaHei"/>
              </a:rPr>
              <a:t>下一步：接向量检索 → 补工具派发器 → 连接池与优雅停机 → 压测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